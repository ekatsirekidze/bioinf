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1" r:id="rId2"/>
    <p:sldId id="257" r:id="rId3"/>
    <p:sldId id="262" r:id="rId4"/>
    <p:sldId id="263" r:id="rId5"/>
    <p:sldId id="264" r:id="rId6"/>
    <p:sldId id="266" r:id="rId7"/>
    <p:sldId id="267" r:id="rId8"/>
    <p:sldId id="271" r:id="rId9"/>
    <p:sldId id="273" r:id="rId10"/>
    <p:sldId id="272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o tsirekidze" initials="kt" lastIdx="2" clrIdx="0">
    <p:extLst>
      <p:ext uri="{19B8F6BF-5375-455C-9EA6-DF929625EA0E}">
        <p15:presenceInfo xmlns:p15="http://schemas.microsoft.com/office/powerpoint/2012/main" userId="fdbc1923ac0bdc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706" autoAdjust="0"/>
  </p:normalViewPr>
  <p:slideViewPr>
    <p:cSldViewPr snapToGrid="0">
      <p:cViewPr>
        <p:scale>
          <a:sx n="66" d="100"/>
          <a:sy n="66" d="100"/>
        </p:scale>
        <p:origin x="1253" y="389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2/3/2026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2/3/2026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2/3/2026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2/3/2026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geo/query/acc.cgi?acc=GSE94335" TargetMode="External"/><Relationship Id="rId2" Type="http://schemas.openxmlformats.org/officeDocument/2006/relationships/hyperlink" Target="https://www.ncbi.nlm.nih.gov/geo/query/acc.cgi?acc=GSE52778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737360"/>
            <a:ext cx="10898155" cy="33832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a-GE" sz="4800" dirty="0">
                <a:cs typeface="Arial" panose="020B0604020202020204" pitchFamily="34" charset="0"/>
              </a:rPr>
              <a:t>გლუკოკორტიკოიდებზე რეაგირებადი გენების ექსპრესიის განმეორებადობა ახალი 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RNA-seq </a:t>
            </a:r>
            <a:r>
              <a:rPr lang="ka-GE" sz="4800" dirty="0">
                <a:cs typeface="Arial" panose="020B0604020202020204" pitchFamily="34" charset="0"/>
              </a:rPr>
              <a:t>მონაცემების გამოყენებით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a-GE" dirty="0"/>
              <a:t>ეკატერინე ცირეკიძე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1" y="1360462"/>
            <a:ext cx="5811495" cy="3887694"/>
          </a:xfrm>
        </p:spPr>
        <p:txBody>
          <a:bodyPr/>
          <a:lstStyle/>
          <a:p>
            <a:r>
              <a:rPr lang="ka-GE" dirty="0"/>
              <a:t>გლუკოკორტიკოიდები არეგულირებენ ანთებას გენების ექსპრესიის მეშვეობით</a:t>
            </a:r>
            <a:endParaRPr lang="en-US" dirty="0"/>
          </a:p>
          <a:p>
            <a:r>
              <a:rPr lang="ka-GE" dirty="0"/>
              <a:t>მრავალი კვლევაში გვხვდება გლუკოკორტიკოიდები რეაგირებად გენებად</a:t>
            </a:r>
            <a:endParaRPr lang="en-US" dirty="0"/>
          </a:p>
          <a:p>
            <a:r>
              <a:rPr lang="ka-GE" dirty="0"/>
              <a:t>თუმცა ექსპერიმენტები განსხვავდება დროის, ტექნოლოგიისა და ანალიზის მეთოდების მიხედვით</a:t>
            </a:r>
            <a:endParaRPr lang="en-US" dirty="0"/>
          </a:p>
          <a:p>
            <a:r>
              <a:rPr lang="ka-GE" dirty="0"/>
              <a:t>რეპროდუცირებადობა ბიოინფორმატიკაში კრიტიკულად მნიშვნელოვანია</a:t>
            </a:r>
            <a:endParaRPr lang="en-US" dirty="0"/>
          </a:p>
        </p:txBody>
      </p:sp>
      <p:pic>
        <p:nvPicPr>
          <p:cNvPr id="1026" name="Picture 2" descr="Glucocorticoid Receptor - Endotext - NCBI Bookshelf">
            <a:extLst>
              <a:ext uri="{FF2B5EF4-FFF2-40B4-BE49-F238E27FC236}">
                <a16:creationId xmlns:a16="http://schemas.microsoft.com/office/drawing/2014/main" id="{8D4840BD-921B-424E-9991-867AC712A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416" y="767434"/>
            <a:ext cx="5536676" cy="424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91BC5-F917-4078-BDCD-E04A25480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127" y="1027522"/>
            <a:ext cx="10575175" cy="4411744"/>
          </a:xfrm>
        </p:spPr>
        <p:txBody>
          <a:bodyPr>
            <a:normAutofit/>
          </a:bodyPr>
          <a:lstStyle/>
          <a:p>
            <a:r>
              <a:rPr lang="ka-GE" sz="2400" b="1" dirty="0"/>
              <a:t>კვლევის ამოცანა:</a:t>
            </a:r>
            <a:br>
              <a:rPr lang="ka-GE" sz="2400" dirty="0"/>
            </a:br>
            <a:r>
              <a:rPr lang="ka-GE" sz="2400" dirty="0"/>
              <a:t>ძველ კვლევაში აღმოჩენილი გლუკოკორტიკოიდებზე რეაგირებადი გენები რეპროდუცირდება თუ არა ახალ, დამოუკიდებელ მონაცემებში?</a:t>
            </a:r>
          </a:p>
          <a:p>
            <a:r>
              <a:rPr lang="ka-GE" sz="2400" b="1" dirty="0"/>
              <a:t>ჰიპოთეზა:</a:t>
            </a:r>
            <a:br>
              <a:rPr lang="ka-GE" sz="2400" dirty="0"/>
            </a:br>
            <a:r>
              <a:rPr lang="ka-GE" sz="2400" dirty="0"/>
              <a:t>გლუკოკორტიკოიდებზე რეაგირებადი ძირითადი გენები უნდა აჩვენებდნენ ერთნაირ ცვლილებებს ორივე მონაცემთა ნაკრებში.</a:t>
            </a:r>
          </a:p>
          <a:p>
            <a:endParaRPr lang="ka-GE" sz="2400" dirty="0"/>
          </a:p>
          <a:p>
            <a:r>
              <a:rPr lang="ka-GE" sz="2400" dirty="0"/>
              <a:t>ძველი კვლევა: </a:t>
            </a:r>
            <a:r>
              <a:rPr lang="en-US" sz="2400" dirty="0">
                <a:hlinkClick r:id="rId2"/>
              </a:rPr>
              <a:t>GEO Accession viewer</a:t>
            </a:r>
            <a:endParaRPr lang="ka-GE" sz="2400" dirty="0"/>
          </a:p>
          <a:p>
            <a:r>
              <a:rPr lang="ka-GE" sz="2400" dirty="0"/>
              <a:t>ახალი კვლევა:</a:t>
            </a:r>
            <a:r>
              <a:rPr lang="en-US" sz="2400" dirty="0">
                <a:hlinkClick r:id="rId3"/>
              </a:rPr>
              <a:t>GEO Accession viewer</a:t>
            </a:r>
            <a:endParaRPr lang="ka-GE" sz="2400" dirty="0"/>
          </a:p>
        </p:txBody>
      </p:sp>
    </p:spTree>
    <p:extLst>
      <p:ext uri="{BB962C8B-B14F-4D97-AF65-F5344CB8AC3E}">
        <p14:creationId xmlns:p14="http://schemas.microsoft.com/office/powerpoint/2010/main" val="147601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87722"/>
            <a:ext cx="9601200" cy="1142385"/>
          </a:xfrm>
        </p:spPr>
        <p:txBody>
          <a:bodyPr/>
          <a:lstStyle/>
          <a:p>
            <a:r>
              <a:rPr lang="ka-GE" dirty="0"/>
              <a:t>გამოყენებული მონაცემები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a-GE" b="1" dirty="0"/>
              <a:t>ძველი მონაცემთა ნაკრები (</a:t>
            </a:r>
            <a:r>
              <a:rPr lang="en-US" b="1" dirty="0"/>
              <a:t>GSE52778):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a-GE" dirty="0"/>
              <a:t>დექსამეტაზონი </a:t>
            </a:r>
            <a:r>
              <a:rPr lang="en-US" dirty="0"/>
              <a:t>vs </a:t>
            </a:r>
            <a:r>
              <a:rPr lang="ka-GE" dirty="0"/>
              <a:t>დაუმუშავებელი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dirty="0"/>
              <a:t>გენების დონეზე დიფერენციული ექსპრესია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D7418-F00F-49B0-A038-868CFCDEEA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a-GE" b="1" dirty="0"/>
              <a:t>ახალი მონაცემთა ნაკრები (</a:t>
            </a:r>
            <a:r>
              <a:rPr lang="en-US" b="1" dirty="0"/>
              <a:t>GSE94335):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a-GE" dirty="0"/>
              <a:t>ბუდესონიდი </a:t>
            </a:r>
            <a:r>
              <a:rPr lang="en-US" dirty="0"/>
              <a:t>vs </a:t>
            </a:r>
            <a:r>
              <a:rPr lang="ka-GE" dirty="0"/>
              <a:t>კონტროლი (</a:t>
            </a:r>
            <a:r>
              <a:rPr lang="en-US" dirty="0"/>
              <a:t>vehicle)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RNA-seq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dirty="0"/>
              <a:t>ტრანსკრიპტების დონეზე ანალიზი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09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744989"/>
            <a:ext cx="9601200" cy="643621"/>
          </a:xfrm>
        </p:spPr>
        <p:txBody>
          <a:bodyPr/>
          <a:lstStyle/>
          <a:p>
            <a:r>
              <a:rPr lang="ka-GE" dirty="0"/>
              <a:t>მეთოდები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FF59CE-08B6-4041-BE6B-25D5DC37C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გამოვიყენე </a:t>
            </a:r>
            <a:r>
              <a:rPr lang="en-US" dirty="0"/>
              <a:t>GEO-</a:t>
            </a:r>
            <a:r>
              <a:rPr lang="ka-GE" dirty="0"/>
              <a:t>დან მიღებული დამუშავებული მონაცემები</a:t>
            </a:r>
          </a:p>
          <a:p>
            <a:r>
              <a:rPr lang="ka-GE" dirty="0"/>
              <a:t>ამის გარდა ორივე მონაცემთა ნაკრები სტანდარტიზდა: </a:t>
            </a:r>
            <a:r>
              <a:rPr lang="en-US" dirty="0"/>
              <a:t>gene symbol</a:t>
            </a:r>
            <a:r>
              <a:rPr lang="ka-GE" dirty="0"/>
              <a:t>, </a:t>
            </a:r>
            <a:r>
              <a:rPr lang="en-US" dirty="0"/>
              <a:t>log2 fold change</a:t>
            </a:r>
            <a:r>
              <a:rPr lang="ka-GE" dirty="0"/>
              <a:t>, </a:t>
            </a:r>
            <a:r>
              <a:rPr lang="en-US" dirty="0"/>
              <a:t>adjusted p-value (FDR)</a:t>
            </a:r>
            <a:endParaRPr lang="ka-GE" dirty="0"/>
          </a:p>
          <a:p>
            <a:r>
              <a:rPr lang="ka-GE" dirty="0"/>
              <a:t>გამოვიყენე ერთნაირი ზღვარი: </a:t>
            </a:r>
            <a:r>
              <a:rPr lang="en-US" b="1" dirty="0"/>
              <a:t>FDR &lt; 0.05</a:t>
            </a:r>
            <a:endParaRPr lang="ka-GE" b="1" dirty="0"/>
          </a:p>
          <a:p>
            <a:endParaRPr lang="ka-GE" b="1" dirty="0"/>
          </a:p>
          <a:p>
            <a:pPr marL="0" indent="0">
              <a:buNone/>
            </a:pPr>
            <a:r>
              <a:rPr lang="ka-GE" dirty="0"/>
              <a:t>ესენი უზრუნველყოფენ სამართლიან მონაცემების შედარებას.</a:t>
            </a:r>
          </a:p>
        </p:txBody>
      </p:sp>
    </p:spTree>
    <p:extLst>
      <p:ext uri="{BB962C8B-B14F-4D97-AF65-F5344CB8AC3E}">
        <p14:creationId xmlns:p14="http://schemas.microsoft.com/office/powerpoint/2010/main" val="276151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მონაცემების შედარებადობის უზრუნველყოფა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121327"/>
            <a:ext cx="4572000" cy="3287487"/>
          </a:xfrm>
        </p:spPr>
        <p:txBody>
          <a:bodyPr/>
          <a:lstStyle/>
          <a:p>
            <a:r>
              <a:rPr lang="ka-GE" b="1" dirty="0"/>
              <a:t>პრობლემები:</a:t>
            </a:r>
            <a:endParaRPr lang="ka-GE" dirty="0"/>
          </a:p>
          <a:p>
            <a:pPr>
              <a:buFont typeface="Arial" panose="020B0604020202020204" pitchFamily="34" charset="0"/>
              <a:buChar char="•"/>
            </a:pPr>
            <a:r>
              <a:rPr lang="ka-GE" dirty="0"/>
              <a:t>ძველი მონაცემები: გენების სახელები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dirty="0"/>
              <a:t>ახალი მონაცემები: ტრანსკრიპტების იდენტიფიკატორები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dirty="0"/>
              <a:t>ერთ გენზე რამდენიმე ტრანსკრიპტი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121326"/>
            <a:ext cx="4572000" cy="3287487"/>
          </a:xfrm>
        </p:spPr>
        <p:txBody>
          <a:bodyPr/>
          <a:lstStyle/>
          <a:p>
            <a:r>
              <a:rPr lang="ka-GE" b="1" dirty="0"/>
              <a:t>გადაწყვეტა:</a:t>
            </a:r>
            <a:endParaRPr lang="ka-GE" dirty="0"/>
          </a:p>
          <a:p>
            <a:pPr>
              <a:buFont typeface="Arial" panose="020B0604020202020204" pitchFamily="34" charset="0"/>
              <a:buChar char="•"/>
            </a:pPr>
            <a:r>
              <a:rPr lang="ka-GE" dirty="0"/>
              <a:t>ახალი მონაცემები გარდაიქმნა გენების დონეზე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dirty="0"/>
              <a:t>თითო გენისთვის დარჩა ყველაზე მნიშვნელოვანი ტრანსკრიპტი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dirty="0"/>
              <a:t>შედარება ჩატარდა უნიკალურ გენებზე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17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შედეგები</a:t>
            </a: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0B67683-2700-4C83-954F-5577A4DFFA44}"/>
              </a:ext>
            </a:extLst>
          </p:cNvPr>
          <p:cNvSpPr txBox="1">
            <a:spLocks/>
          </p:cNvSpPr>
          <p:nvPr/>
        </p:nvSpPr>
        <p:spPr>
          <a:xfrm>
            <a:off x="1295400" y="2098442"/>
            <a:ext cx="4572000" cy="32874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400" b="1" dirty="0"/>
              <a:t>მნიშვნელოვანი გენები (</a:t>
            </a:r>
            <a:r>
              <a:rPr lang="en-US" sz="2400" b="1" dirty="0"/>
              <a:t>FDR &lt; 0.05):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ka-GE" sz="2400" dirty="0"/>
              <a:t>ძველი მონაცემები: </a:t>
            </a:r>
            <a:r>
              <a:rPr lang="ka-GE" sz="2400" b="1" dirty="0"/>
              <a:t>316 გენი</a:t>
            </a:r>
            <a:endParaRPr lang="ka-G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ka-GE" sz="2400" dirty="0"/>
              <a:t>ახალი მონაცემები: </a:t>
            </a:r>
            <a:r>
              <a:rPr lang="ka-GE" sz="2400" b="1" dirty="0"/>
              <a:t>2534 გენი</a:t>
            </a:r>
            <a:endParaRPr lang="ka-GE" sz="2400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FF60DF-B66A-4BFE-B5EF-6E09A68819E9}"/>
              </a:ext>
            </a:extLst>
          </p:cNvPr>
          <p:cNvSpPr txBox="1"/>
          <p:nvPr/>
        </p:nvSpPr>
        <p:spPr>
          <a:xfrm>
            <a:off x="1295400" y="4554932"/>
            <a:ext cx="8247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sz="2400" dirty="0"/>
              <a:t>ახალი </a:t>
            </a:r>
            <a:r>
              <a:rPr lang="en-US" sz="2400" dirty="0"/>
              <a:t>RNA-seq </a:t>
            </a:r>
            <a:r>
              <a:rPr lang="ka-GE" sz="2400" dirty="0"/>
              <a:t>მონაცემები უფრო მგრძნობიარეა და ამიტომ ავლენს მეტ მნიშვნელოვან გენურ ცვლილებას.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5273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744989"/>
            <a:ext cx="9601200" cy="643621"/>
          </a:xfrm>
        </p:spPr>
        <p:txBody>
          <a:bodyPr/>
          <a:lstStyle/>
          <a:p>
            <a:r>
              <a:rPr lang="ka-GE" b="1" dirty="0"/>
              <a:t>მნიშვნელოვანი გენების გადაკვეთა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FF59CE-08B6-4041-BE6B-25D5DC37C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ორივე მონაცემთა ნაკრებში მნიშვნელოვანი გენები: 235</a:t>
            </a:r>
          </a:p>
          <a:p>
            <a:r>
              <a:rPr lang="en-US" dirty="0"/>
              <a:t>Jaccard </a:t>
            </a:r>
            <a:r>
              <a:rPr lang="ka-GE" dirty="0"/>
              <a:t>ინდექსი: ≈ 0.09</a:t>
            </a:r>
          </a:p>
          <a:p>
            <a:r>
              <a:rPr lang="en-US" dirty="0"/>
              <a:t>Spearman-</a:t>
            </a:r>
            <a:r>
              <a:rPr lang="ka-GE" dirty="0"/>
              <a:t>ის კორელაცია (</a:t>
            </a:r>
            <a:r>
              <a:rPr lang="en-US" dirty="0"/>
              <a:t>log2FC): </a:t>
            </a:r>
            <a:r>
              <a:rPr lang="el-GR" dirty="0"/>
              <a:t>ρ ≈ 0.8</a:t>
            </a:r>
            <a:r>
              <a:rPr lang="en-US" dirty="0"/>
              <a:t>9</a:t>
            </a:r>
            <a:endParaRPr lang="ka-GE" dirty="0"/>
          </a:p>
          <a:p>
            <a:pPr marL="0" indent="0">
              <a:buNone/>
            </a:pPr>
            <a:r>
              <a:rPr lang="ka-GE" dirty="0"/>
              <a:t>ეს მიუთითებს, რომ გენები არა მხოლოდ ერთნაირად იცვლება, არამედ ცვლილების მიმართულება და სიდიდეც ძლიერად ემთხვევა.</a:t>
            </a:r>
          </a:p>
          <a:p>
            <a:endParaRPr lang="ka-GE" b="1" dirty="0"/>
          </a:p>
          <a:p>
            <a:pPr marL="0" indent="0">
              <a:buNone/>
            </a:pPr>
            <a:r>
              <a:rPr lang="ka-GE" dirty="0"/>
              <a:t>მიუხედავად განსხვავებული ექსპერიმენტებისა, არსებობს გლუკოკორტიკოიდებზე რეაგირებადი გენების სტაბილური ბირთვი</a:t>
            </a:r>
            <a:endParaRPr lang="ka-GE" b="1" dirty="0"/>
          </a:p>
        </p:txBody>
      </p:sp>
    </p:spTree>
    <p:extLst>
      <p:ext uri="{BB962C8B-B14F-4D97-AF65-F5344CB8AC3E}">
        <p14:creationId xmlns:p14="http://schemas.microsoft.com/office/powerpoint/2010/main" val="4040575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1C1B68-C03A-4381-846E-B5B4FB8C0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81381" cy="688138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9A9000-83B1-4C87-9CA1-5780D3D26DB1}"/>
              </a:ext>
            </a:extLst>
          </p:cNvPr>
          <p:cNvSpPr txBox="1"/>
          <p:nvPr/>
        </p:nvSpPr>
        <p:spPr>
          <a:xfrm>
            <a:off x="7456601" y="1941921"/>
            <a:ext cx="36104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Correlation of log2 fold changes between older (</a:t>
            </a:r>
            <a:r>
              <a:rPr lang="en-US" dirty="0" err="1"/>
              <a:t>Dex</a:t>
            </a:r>
            <a:r>
              <a:rPr lang="en-US" dirty="0"/>
              <a:t> vs untreated) and newer (Budesonide vs vehicle) datasets for shared significant genes (Spearman ρ ≈ 0.89).</a:t>
            </a:r>
          </a:p>
        </p:txBody>
      </p:sp>
    </p:spTree>
    <p:extLst>
      <p:ext uri="{BB962C8B-B14F-4D97-AF65-F5344CB8AC3E}">
        <p14:creationId xmlns:p14="http://schemas.microsoft.com/office/powerpoint/2010/main" val="247299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744989"/>
            <a:ext cx="9601200" cy="643621"/>
          </a:xfrm>
        </p:spPr>
        <p:txBody>
          <a:bodyPr/>
          <a:lstStyle/>
          <a:p>
            <a:r>
              <a:rPr lang="ka-GE" b="1" dirty="0"/>
              <a:t>დასკვნა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FF59CE-08B6-4041-BE6B-25D5DC37C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ძველი კვლევის შედეგები ინარჩუნებს ძალას ახალ მონაცემებში</a:t>
            </a:r>
          </a:p>
          <a:p>
            <a:r>
              <a:rPr lang="ka-GE" dirty="0"/>
              <a:t>ძირითადი გენები აჩვენებენ ძლიერ თანხვედრას</a:t>
            </a:r>
          </a:p>
          <a:p>
            <a:r>
              <a:rPr lang="ka-GE" dirty="0"/>
              <a:t>ძირითადი გლუკოკორტიკოიდული პასუხი რეპროდუცირებადია</a:t>
            </a:r>
          </a:p>
          <a:p>
            <a:r>
              <a:rPr lang="ka-GE" dirty="0"/>
              <a:t>მაღალი კორელაცია ადასტურებს ძველი კვლევის შედეგების სანდოობას</a:t>
            </a:r>
          </a:p>
        </p:txBody>
      </p:sp>
    </p:spTree>
    <p:extLst>
      <p:ext uri="{BB962C8B-B14F-4D97-AF65-F5344CB8AC3E}">
        <p14:creationId xmlns:p14="http://schemas.microsoft.com/office/powerpoint/2010/main" val="186450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მადლობა ყურადღებისთვის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40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1266</TotalTime>
  <Words>329</Words>
  <Application>Microsoft Office PowerPoint</Application>
  <PresentationFormat>Widescreen</PresentationFormat>
  <Paragraphs>54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Sylfaen</vt:lpstr>
      <vt:lpstr>Diamond Grid 16x9</vt:lpstr>
      <vt:lpstr>გლუკოკორტიკოიდებზე რეაგირებადი გენების ექსპრესიის განმეორებადობა ახალი RNA-seq მონაცემების გამოყენებით</vt:lpstr>
      <vt:lpstr>PowerPoint Presentation</vt:lpstr>
      <vt:lpstr>PowerPoint Presentation</vt:lpstr>
      <vt:lpstr>გამოყენებული მონაცემები</vt:lpstr>
      <vt:lpstr>მეთოდები</vt:lpstr>
      <vt:lpstr>მონაცემების შედარებადობის უზრუნველყოფა</vt:lpstr>
      <vt:lpstr>შედეგები</vt:lpstr>
      <vt:lpstr>მნიშვნელოვანი გენების გადაკვეთა</vt:lpstr>
      <vt:lpstr>PowerPoint Presentation</vt:lpstr>
      <vt:lpstr>დასკვნა</vt:lpstr>
      <vt:lpstr>მადლობა ყურადღებისთვის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გლუკოკორტიკოიდებზე რეაგირებადი გენების ექსპრესიის რეპროდუცირებადობა ახალი RNA-seq მონაცემების გამოყენებით</dc:title>
  <dc:creator>kato tsirekidze</dc:creator>
  <cp:lastModifiedBy>kato tsirekidze</cp:lastModifiedBy>
  <cp:revision>8</cp:revision>
  <dcterms:created xsi:type="dcterms:W3CDTF">2026-02-03T19:02:11Z</dcterms:created>
  <dcterms:modified xsi:type="dcterms:W3CDTF">2026-02-04T16:08:34Z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